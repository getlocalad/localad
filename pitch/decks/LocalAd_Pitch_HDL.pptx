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Calibri"/>
              </a:rPr>
              <a:t>LocalAd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5D04"/>
                </a:solidFill>
                <a:latin typeface="Calibri"/>
              </a:rPr>
              <a:t>Werbung, die lokal bleibt.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Die Browser Extension die Konzernwerbung blockiert
und durch echte lokale Werbung aus deiner Region ersetzt.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2286000" cy="3657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Pilotmarkt: Duisburg  ·  MVP 2026  ·  Suche: 150.000 € für 15 %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1371600"/>
            <a:ext cx="3200400" cy="41148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22860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38404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Lokale
Wirtschaft
schützen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Das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320040"/>
            <a:ext cx="1042415" cy="30175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8128" y="356615"/>
            <a:ext cx="822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5661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09728" cy="420624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F2D52"/>
                </a:solidFill>
                <a:latin typeface="Calibri"/>
              </a:rPr>
              <a:t>95 %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der Online-Werbeausgaben
fließen an Google, Meta
und Amazon.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25880"/>
            <a:ext cx="35661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25880"/>
            <a:ext cx="109728" cy="420624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54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F2D52"/>
                </a:solidFill>
                <a:latin typeface="Calibri"/>
              </a:rPr>
              <a:t>0 €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974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bekommen lokale Verlage
und kleine Websites von
diesen Milliarden.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25880"/>
            <a:ext cx="35661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325880"/>
            <a:ext cx="109728" cy="420624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554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F2D52"/>
                </a:solidFill>
                <a:latin typeface="Calibri"/>
              </a:rPr>
              <a:t>Nutzer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6974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sehen Werbung, die sie
nicht wollen — für Produkte,
die sie nicht brauchen.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7607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Lokale Unternehmen können sich keine Konzern-Reichweite leisten. Ihre Zielgruppe lebt um die Ecke — aber Werbung wird weltweit versteigert.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Die Lösung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320040"/>
            <a:ext cx="932688" cy="30175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8128" y="356615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LÖSUNG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5D04"/>
                </a:solidFill>
                <a:latin typeface="Calibri"/>
              </a:rPr>
              <a:t>LocalAd – Der erste Werbeblocker mit Mehrwert.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3566160" cy="3657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21945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A1A2E"/>
                </a:solidFill>
                <a:latin typeface="Calibri"/>
              </a:rPr>
              <a:t>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Konzernwerbung blockieren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Alle Anfragen an Google Ads, Meta, Taboola &amp; Co.
werden per declarativeNetRequest blockiert.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566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5D04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011680"/>
            <a:ext cx="3566160" cy="3657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21945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A1A2E"/>
                </a:solidFill>
                <a:latin typeface="Calibri"/>
              </a:rPr>
              <a:t>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Region erkennen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8404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Nutzer gibt einmalig seine PLZ ein.
Die Daten bleiben lokal auf dem Gerät.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566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5D04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011680"/>
            <a:ext cx="3566160" cy="3657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1945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A1A2E"/>
                </a:solidFill>
                <a:latin typeface="Calibri"/>
              </a:rPr>
              <a:t>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Lokal ersetzen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8404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Auf registrierten Partnerseiten erscheinen
stattdessen Anzeigen aus der Nachbarschaft.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943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Kein MITM · Kein Tracking · Replacement nur mit Publisher-Zustimmung · Analog zum Brave Creator Program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Dreiseitiger Markt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320040"/>
            <a:ext cx="932688" cy="30175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8128" y="356615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MODELL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474720" cy="484632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4630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1A1A2E"/>
                </a:solidFill>
                <a:latin typeface="Calibri"/>
              </a:rP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Endnutzer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154680"/>
            <a:ext cx="2286000" cy="3657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5D04"/>
                </a:solidFill>
                <a:latin typeface="Calibri"/>
              </a:rPr>
              <a:t>3 €/Monat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Kein Konzern-
Tracking mehr.
Werbefreies Surfen
mit lokalem Mehrwert.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474720" cy="4846320"/>
          </a:xfrm>
          <a:prstGeom prst="rect">
            <a:avLst/>
          </a:prstGeom>
          <a:solidFill>
            <a:srgbClr val="1A4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4630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1A1A2E"/>
                </a:solidFill>
                <a:latin typeface="Calibri"/>
              </a:rPr>
              <a:t>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468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Werbetreibende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3154680"/>
            <a:ext cx="2286000" cy="3657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291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5D04"/>
                </a:solidFill>
                <a:latin typeface="Calibri"/>
              </a:rPr>
              <a:t>50–200 €/Monat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0233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PLZ-genaues
Targeting.
Flexible Flatrate.
Kein Mindestbudget.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474720" cy="4846320"/>
          </a:xfrm>
          <a:prstGeom prst="rect">
            <a:avLst/>
          </a:prstGeom>
          <a:solidFill>
            <a:srgbClr val="4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4630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1A1A2E"/>
                </a:solidFill>
                <a:latin typeface="Calibri"/>
              </a:rPr>
              <a:t>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468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Publisher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3154680"/>
            <a:ext cx="2286000" cy="3657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3291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5D04"/>
                </a:solidFill>
                <a:latin typeface="Calibri"/>
              </a:rPr>
              <a:t>30 % Umsatz
beteiligung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0233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Opt-in per Domain-
Verifizierung.
Ersatz für
Konzern-Ad-Revenue.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Marktgröße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320040"/>
            <a:ext cx="822959" cy="30175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8128" y="356615"/>
            <a:ext cx="6035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MARKT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430000" cy="4937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TAM – Gesamt Online-Werbemarkt 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2"/>
                </a:solidFill>
                <a:latin typeface="Calibri"/>
              </a:rPr>
              <a:t>16,4 Mrd. €/Jahr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10698480" cy="402336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10424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SAM – Lokale KMU-Werbung 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77440"/>
            <a:ext cx="10424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2"/>
                </a:solidFill>
                <a:latin typeface="Calibri"/>
              </a:rPr>
              <a:t>1,2 Mrd. €/Jahr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2468880"/>
            <a:ext cx="5486400" cy="292608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19" y="2560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SOM – Duisburg + NRW MVP
(0,3 % Marktanteil Ziel)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30175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D52"/>
                </a:solidFill>
                <a:latin typeface="Calibri"/>
              </a:rPr>
              <a:t>3,6 Mio. €/Jahr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1920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D52"/>
                </a:solidFill>
                <a:latin typeface="Calibri"/>
              </a:rPr>
              <a:t>Duisburg Kontext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468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5D04"/>
                </a:solidFill>
                <a:latin typeface="Calibri"/>
              </a:rPr>
              <a:t>498.000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8346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Einwohner Duisburg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383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5D04"/>
                </a:solidFill>
                <a:latin typeface="Calibri"/>
              </a:rPr>
              <a:t>~14.000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KMU in Duisburg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97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5D04"/>
                </a:solidFill>
                <a:latin typeface="Calibri"/>
              </a:rPr>
              <a:t>~7.000 €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6634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Ø Werbebudget KMU/Jahr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212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5D04"/>
                </a:solidFill>
                <a:latin typeface="Calibri"/>
              </a:rPr>
              <a:t>70 %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5778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Anteil Online-Werbung wächst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Business Modell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0" y="320040"/>
            <a:ext cx="1261872" cy="30175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0928" y="356615"/>
            <a:ext cx="1042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5D04"/>
                </a:solidFill>
                <a:latin typeface="Calibri"/>
              </a:rPr>
              <a:t>Revenue Streams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64008" cy="109728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Endnutzer-Abo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214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5D04"/>
                </a:solidFill>
                <a:latin typeface="Calibri"/>
              </a:rPr>
              <a:t>3 €/Monat × Nutzer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871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Recurring, niedrige Churn-Rate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64008" cy="109728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Werbetreibende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930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5D04"/>
                </a:solidFill>
                <a:latin typeface="Calibri"/>
              </a:rPr>
              <a:t>50–200 €/Monat Flatrate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587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B2B, stabile Planung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480560"/>
            <a:ext cx="64008" cy="109728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480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Publisher-Share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8646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5D04"/>
                </a:solidFill>
                <a:latin typeface="Calibri"/>
              </a:rPr>
              <a:t>30 % Provision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2303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Kein Upfront-Cost für Publisher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234440"/>
            <a:ext cx="5394960" cy="4846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Break-even Szenarien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1920240"/>
            <a:ext cx="5303520" cy="74980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08483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5D04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208483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5D04"/>
                </a:solidFill>
                <a:latin typeface="Calibri"/>
              </a:rPr>
              <a:t>Nutzer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208483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5D04"/>
                </a:solidFill>
                <a:latin typeface="Calibri"/>
              </a:rPr>
              <a:t>Werbetreibende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08483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5D04"/>
                </a:solidFill>
                <a:latin typeface="Calibri"/>
              </a:rPr>
              <a:t>MRR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2697480"/>
            <a:ext cx="5303520" cy="7498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86207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Monat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286207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86207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60" y="286207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5D04"/>
                </a:solidFill>
                <a:latin typeface="Calibri"/>
              </a:rPr>
              <a:t>1.100 €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474720"/>
            <a:ext cx="5303520" cy="749808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63931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Monat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363931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800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363931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363931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5D04"/>
                </a:solidFill>
                <a:latin typeface="Calibri"/>
              </a:rPr>
              <a:t>4.400 €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4251960"/>
            <a:ext cx="5303520" cy="7498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44165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Monat 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44165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2.000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44165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80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44165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5D04"/>
                </a:solidFill>
                <a:latin typeface="Calibri"/>
              </a:rPr>
              <a:t>11.000 €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5029200"/>
            <a:ext cx="5303520" cy="749808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519379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Jahr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26679" y="519379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8.000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400" y="519379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250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95560" y="519379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5D04"/>
                </a:solidFill>
                <a:latin typeface="Calibri"/>
              </a:rPr>
              <a:t>35.500 €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Wettbewerbslandschaft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0" y="320040"/>
            <a:ext cx="1371600" cy="30175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0928" y="356615"/>
            <a:ext cx="1152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WETTBEWERB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3794760"/>
            <a:ext cx="731520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280160"/>
            <a:ext cx="36576" cy="50292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Nur blockieren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Ersetzen / Mehrwert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3716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Lokaler
Fokus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0292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Global /
Kein Fokus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  <a:latin typeface="Calibr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uBlock Origin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  <a:latin typeface="Calibri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AdBlock Plus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6BF5"/>
                </a:solidFill>
                <a:latin typeface="Calibri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F6BF5"/>
                </a:solidFill>
                <a:latin typeface="Calibri"/>
              </a:rPr>
              <a:t>Brave Browser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5D04"/>
                </a:solidFill>
                <a:latin typeface="Calibri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5D04"/>
                </a:solidFill>
                <a:latin typeface="Calibri"/>
              </a:rPr>
              <a:t>LocalAd 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D52"/>
                </a:solidFill>
                <a:latin typeface="Calibri"/>
              </a:rPr>
              <a:t>LocalAd ist einzigartig weil: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6A34A"/>
                </a:solidFill>
                <a:latin typeface="Calibri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1828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Einziger Blocker
mit lokalem Ersatz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6A34A"/>
                </a:solidFill>
                <a:latin typeface="Calibri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7432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Publisher verdienen
statt verlieren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6A34A"/>
                </a:solidFill>
                <a:latin typeface="Calibri"/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657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Werbetreibende haben
PLZ-genaues Targeting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6A34A"/>
                </a:solidFill>
                <a:latin typeface="Calibri"/>
              </a:rP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572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Rechtlich sauber:
kein MITM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486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6A34A"/>
                </a:solidFill>
                <a:latin typeface="Calibri"/>
              </a:rP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5486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3-seitiger Netzwerk-
effekt schützt vor Kopie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MVP &amp; Traktion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320040"/>
            <a:ext cx="1152144" cy="30175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8128" y="356615"/>
            <a:ext cx="932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TRAKTION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04"/>
                </a:solidFill>
                <a:latin typeface="Calibri"/>
              </a:rPr>
              <a:t>Was bereits existiert: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32004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7556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Browser Extension (MV3, Chrome + Firefox ready)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32004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257860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786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Backend API mit Express + PostgreSQL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32004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34015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Publisher-Verifizierung (DNS + Meta-Tag)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06240"/>
            <a:ext cx="32004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4224527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Ad-Matching-System (PLZ-basiert)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737360"/>
            <a:ext cx="32004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17556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7556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Stripe-Integration (Abo + Werbetreibende)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560320"/>
            <a:ext cx="32004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257860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5786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Werbetreibenden- und Publisher-Dashboard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383280"/>
            <a:ext cx="32004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34015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4015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Onboarding-Flow für neue Nutzer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206240"/>
            <a:ext cx="32004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4224527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2452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44 Block-Regeln (EasyList-Kompatibilität)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166360"/>
            <a:ext cx="11430000" cy="3657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Nächste Schritte: Erster Beta-Publisher in Duisburg · Chrome Web Store Submission · 10 Werbetreibende Pilotphase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320040"/>
            <a:ext cx="1042415" cy="30175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8128" y="356615"/>
            <a:ext cx="822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017520"/>
            <a:ext cx="1124712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0" y="2880360"/>
            <a:ext cx="320040" cy="32004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566160" cy="155448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Q3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Duisburg MVP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356616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91440" cy="265176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· Extension im Chrome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233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· 10 Werbetreibende onboarden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617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· 3 Publisher-Partner gewinnen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120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· 500 Endnutzer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2880360"/>
            <a:ext cx="320040" cy="3200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280160"/>
            <a:ext cx="3566160" cy="155448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371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Q1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1783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NRW-Expansion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291840"/>
            <a:ext cx="356616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291840"/>
            <a:ext cx="91440" cy="265176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4290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· Köln, Dortmund, Essen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0233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· 100 Werbetreibende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617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· 5.000 Endnutzer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52120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· Automatisiertes Publisher-Onboarding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2880360"/>
            <a:ext cx="320040" cy="32004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280160"/>
            <a:ext cx="3566160" cy="155448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1371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Q4 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1783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Deutschland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3291840"/>
            <a:ext cx="356616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3291840"/>
            <a:ext cx="91440" cy="265176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34290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· Top-20 Städte aktiv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0233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· 1.000 Werbetreibende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617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· 50.000 Endnutzer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52120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· Series A Vorbereitung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320040"/>
            <a:ext cx="713232" cy="30175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8128" y="356615"/>
            <a:ext cx="493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029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09728" cy="438912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F2D52"/>
                </a:solidFill>
                <a:latin typeface="Calibri"/>
              </a:rPr>
              <a:t>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1645920" cy="16459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920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D52"/>
                </a:solidFill>
                <a:latin typeface="Calibri"/>
              </a:rPr>
              <a:t>Nico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68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Gründer &amp; CEO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8803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Duisburg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657600"/>
            <a:ext cx="457200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· Produktentwicklung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7939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· Pädagogik &amp; Community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1830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· Extension-Entwicklung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5721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· Business Development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371600"/>
            <a:ext cx="5303520" cy="43891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371600"/>
            <a:ext cx="109728" cy="43891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D52"/>
                </a:solidFill>
                <a:latin typeface="Calibri"/>
              </a:rPr>
              <a:t>Wir suchen: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1031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  <a:latin typeface="Calibri"/>
              </a:rPr>
              <a:t>🧑‍💻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148839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Technischer Co-Founder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60603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Node.js / PostgreSQL / Extension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4747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  <a:latin typeface="Calibri"/>
              </a:rPr>
              <a:t>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520439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Investor / Business Angel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97763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150.000 € Seed-Runde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8463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  <a:latin typeface="Calibri"/>
              </a:rPr>
              <a:t>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8920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Erste Publisher-Partner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53492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Lokale Websites in Duisburg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Was wir suchen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320040"/>
            <a:ext cx="1371600" cy="30175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10928" y="356615"/>
            <a:ext cx="1152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E85D04"/>
                </a:solidFill>
                <a:latin typeface="Calibri"/>
              </a:rPr>
              <a:t>150.000 €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für 15 % Unternehmensanteile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5486400" cy="3657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04"/>
                </a:solidFill>
                <a:latin typeface="Calibri"/>
              </a:rPr>
              <a:t>Mittelverwendung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096511"/>
            <a:ext cx="1463040" cy="347472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096511"/>
            <a:ext cx="1463040" cy="34747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09651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40 % – 60.000 €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13308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Technologie &amp; Infrastruktur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64023"/>
            <a:ext cx="1097280" cy="347472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764023"/>
            <a:ext cx="1097280" cy="347472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76402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30 % – 45.000 €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8005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Marketing &amp; Publisher-Akquise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31536"/>
            <a:ext cx="731520" cy="347472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431536"/>
            <a:ext cx="731520" cy="347472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4315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20 % – 30.000 €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468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Rechtliches &amp; Compliance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099048"/>
            <a:ext cx="365760" cy="347472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6099048"/>
            <a:ext cx="365760" cy="347472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60990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10 % – 15.000 €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61356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Operations &amp; Reserve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1280160"/>
            <a:ext cx="5029200" cy="4937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14173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Ziele in 18 Monaten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5D04"/>
                </a:solidFill>
                <a:latin typeface="Calibri"/>
              </a:rPr>
              <a:t>2.000+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Zahlende Endnutzer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5D04"/>
                </a:solidFill>
                <a:latin typeface="Calibri"/>
              </a:rPr>
              <a:t>80+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Aktive Werbetreibende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5D04"/>
                </a:solidFill>
                <a:latin typeface="Calibri"/>
              </a:rPr>
              <a:t>20+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069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Verifizierte Publisher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480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5D04"/>
                </a:solidFill>
                <a:latin typeface="Calibri"/>
              </a:rPr>
              <a:t>11.000 €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89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MRR (monatl. Umsatz)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5303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5D04"/>
                </a:solidFill>
                <a:latin typeface="Calibri"/>
              </a:rPr>
              <a:t>3 Städte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715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Duisburg, Köln, Essen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88952" cy="2286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LocalAd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85D04"/>
                </a:solidFill>
                <a:latin typeface="Calibri"/>
              </a:rPr>
              <a:t>Die Werberevolution beginnt in Duisburg.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Calibri"/>
              </a:rPr>
              <a:t>Lokale Wirtschaft stärken · Nutzer schützen · Verlage unterstützen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749039"/>
            <a:ext cx="3931920" cy="54864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Kontakt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578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nico@localad.de
localad.de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75488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FFFFFF"/>
                </a:solidFill>
                <a:latin typeface="Calibri"/>
              </a:rPr>
              <a:t>150.000 €
für 15 %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